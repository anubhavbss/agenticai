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1 — PragmaCharge: Company Overview</a:t>
            </a:r>
          </a:p>
          <a:p>
            <a:r>
              <a:t>- Founded in 2023</a:t>
            </a:r>
          </a:p>
          <a:p>
            <a:r>
              <a:t>- Headquarters: London, UK</a:t>
            </a:r>
          </a:p>
          <a:p>
            <a:r>
              <a:t>- Business focus: Heavy-duty electric truck charging and “truck-as-a-service” / fleet electrification services</a:t>
            </a:r>
          </a:p>
          <a:p>
            <a:r>
              <a:t>- Stage: Very early-stage, but commercially active</a:t>
            </a:r>
          </a:p>
          <a:p>
            <a:r>
              <a:t>- Footprint: Public statements indicate activity in the UK, Spain, Poland, and Germany</a:t>
            </a:r>
          </a:p>
          <a:p>
            <a:r>
              <a:t>- Team size: Very small company; LinkedIn lists 2–10 employees, PitchBook lists 11 total employees</a:t>
            </a:r>
          </a:p>
          <a:p/>
          <a:p>
            <a:r>
              <a:t>Facts / figures</a:t>
            </a:r>
          </a:p>
          <a:p>
            <a:r>
              <a:t>- Founded in 2023</a:t>
            </a:r>
          </a:p>
          <a:p>
            <a:r>
              <a:t>- 11 total employees (PitchBook)</a:t>
            </a:r>
          </a:p>
          <a:p>
            <a:r>
              <a:t>- 2–10 employees on LinkedIn</a:t>
            </a:r>
          </a:p>
          <a:p/>
          <a:p>
            <a:r>
              <a:t>Sources</a:t>
            </a:r>
          </a:p>
          <a:p>
            <a:r>
              <a:t>- PitchBook</a:t>
            </a:r>
          </a:p>
          <a:p>
            <a:r>
              <a:t>- LinkedIn</a:t>
            </a:r>
          </a:p>
          <a:p>
            <a:r>
              <a:t>- Company public statements / founder commentary</a:t>
            </a:r>
          </a:p>
          <a:p/>
          <a:p>
            <a:r>
              <a:t>Slide 2 — Business Model and Market Position</a:t>
            </a:r>
          </a:p>
          <a:p>
            <a:r>
              <a:t>- Operates in the commercial fleet electrification and heavy-duty charging infrastructure market</a:t>
            </a:r>
          </a:p>
          <a:p>
            <a:r>
              <a:t>- Targets truck fleets rather than general-purpose EV charging</a:t>
            </a:r>
          </a:p>
          <a:p>
            <a:r>
              <a:t>- Positioning suggests a service-led infrastructure model, not just charger installation</a:t>
            </a:r>
          </a:p>
          <a:p>
            <a:r>
              <a:t>- Focuses on commercial operations for freight and logistics customers</a:t>
            </a:r>
          </a:p>
          <a:p>
            <a:r>
              <a:t>- Sits in a market driven by decarbonization policy and fleet emissions pressure</a:t>
            </a:r>
          </a:p>
          <a:p/>
          <a:p>
            <a:r>
              <a:t>Facts / figures</a:t>
            </a:r>
          </a:p>
          <a:p>
            <a:r>
              <a:t>- Core offering: heavy-duty truck charging + fleet support services</a:t>
            </a:r>
          </a:p>
          <a:p>
            <a:r>
              <a:t>- Market theme: European freight decarbonization</a:t>
            </a:r>
          </a:p>
          <a:p/>
          <a:p>
            <a:r>
              <a:t>Sources</a:t>
            </a:r>
          </a:p>
          <a:p>
            <a:r>
              <a:t>- Company research report</a:t>
            </a:r>
          </a:p>
          <a:p>
            <a:r>
              <a:t>- Public company website and announcements</a:t>
            </a:r>
          </a:p>
          <a:p>
            <a:r>
              <a:t>- Founder LinkedIn commentary</a:t>
            </a:r>
          </a:p>
          <a:p/>
          <a:p>
            <a:r>
              <a:t>Slide 3 — Company Health and Operating Status</a:t>
            </a:r>
          </a:p>
          <a:p>
            <a:r>
              <a:t>- Company appears to have moved from concept to active commercial operations</a:t>
            </a:r>
          </a:p>
          <a:p>
            <a:r>
              <a:t>- Founder commentary indicates the company has reached the revenue stage</a:t>
            </a:r>
          </a:p>
          <a:p>
            <a:r>
              <a:t>- Has announced customer launches and partnerships</a:t>
            </a:r>
          </a:p>
          <a:p>
            <a:r>
              <a:t>- Health is promising, but still typical of an early-stage infrastructure startup: high execution risk</a:t>
            </a:r>
          </a:p>
          <a:p>
            <a:r>
              <a:t>- Financial fragility remains likely due to capital intensity and limited disclosed funding</a:t>
            </a:r>
          </a:p>
          <a:p/>
          <a:p>
            <a:r>
              <a:t>Facts / figures</a:t>
            </a:r>
          </a:p>
          <a:p>
            <a:r>
              <a:t>- Revenue stage mentioned by founder commentary</a:t>
            </a:r>
          </a:p>
          <a:p>
            <a:r>
              <a:t>- Small team size increases operational concentration risk</a:t>
            </a:r>
          </a:p>
          <a:p/>
          <a:p>
            <a:r>
              <a:t>Sources</a:t>
            </a:r>
          </a:p>
          <a:p>
            <a:r>
              <a:t>- Founder LinkedIn commentary</a:t>
            </a:r>
          </a:p>
          <a:p>
            <a:r>
              <a:t>- PitchBook</a:t>
            </a:r>
          </a:p>
          <a:p>
            <a:r>
              <a:t>- Prologis announcements</a:t>
            </a:r>
          </a:p>
          <a:p/>
          <a:p>
            <a:r>
              <a:t>Slide 4 — Historical Timeline and Growth Trajectory</a:t>
            </a:r>
          </a:p>
          <a:p>
            <a:r>
              <a:t>- 2023: Company founded</a:t>
            </a:r>
          </a:p>
          <a:p>
            <a:r>
              <a:t>- 2024–2025: Fundraising and team-building activity appears to have taken place</a:t>
            </a:r>
          </a:p>
          <a:p>
            <a:r>
              <a:t>- 2025–2026: Commercial and partnership activity becomes visible</a:t>
            </a:r>
          </a:p>
          <a:p>
            <a:r>
              <a:t>- 2026: Major public milestones in Valencia and corridor electrification</a:t>
            </a:r>
          </a:p>
          <a:p/>
          <a:p>
            <a:r>
              <a:t>- Growth pattern appears to be:</a:t>
            </a:r>
          </a:p>
          <a:p>
            <a:r>
              <a:t>  - startup formation</a:t>
            </a:r>
          </a:p>
          <a:p>
            <a:r>
              <a:t>  - fundraising / partnership development</a:t>
            </a:r>
          </a:p>
          <a:p>
            <a:r>
              <a:t>  - first customer and site launches</a:t>
            </a:r>
          </a:p>
          <a:p>
            <a:r>
              <a:t>  - move toward operating infrastructure and service contracts</a:t>
            </a:r>
          </a:p>
          <a:p/>
          <a:p>
            <a:r>
              <a:t>Facts / figures</a:t>
            </a:r>
          </a:p>
          <a:p>
            <a:r>
              <a:t>- 2023 founding date</a:t>
            </a:r>
          </a:p>
          <a:p>
            <a:r>
              <a:t>- 2026 commercial launch activity</a:t>
            </a:r>
          </a:p>
          <a:p/>
          <a:p>
            <a:r>
              <a:t>Sources</a:t>
            </a:r>
          </a:p>
          <a:p>
            <a:r>
              <a:t>- Company research report</a:t>
            </a:r>
          </a:p>
          <a:p>
            <a:r>
              <a:t>- Prologis announcement dated June 11, 2026</a:t>
            </a:r>
          </a:p>
          <a:p>
            <a:r>
              <a:t>- Prologis article dated September 25, 2026</a:t>
            </a:r>
          </a:p>
          <a:p>
            <a:r>
              <a:t>- LinkedIn posts from company leadership</a:t>
            </a:r>
          </a:p>
          <a:p/>
          <a:p>
            <a:r>
              <a:t>Slide 5 — Business and Market Position</a:t>
            </a:r>
          </a:p>
          <a:p>
            <a:r>
              <a:t>- Focused on a niche with high strategic importance: heavy-duty electrification</a:t>
            </a:r>
          </a:p>
          <a:p>
            <a:r>
              <a:t>- Differentiated from generic EV charging operators by targeting truck-specific use cases</a:t>
            </a:r>
          </a:p>
          <a:p>
            <a:r>
              <a:t>- Public trajectory suggests corridor-based deployment and site-specific industrial logistics hubs</a:t>
            </a:r>
          </a:p>
          <a:p>
            <a:r>
              <a:t>- Strong alignment with European climate and freight decarbonization goals</a:t>
            </a:r>
          </a:p>
          <a:p>
            <a:r>
              <a:t>- Still a small player relative to larger energy, charging, and logistics incumbents</a:t>
            </a:r>
          </a:p>
          <a:p/>
          <a:p>
            <a:r>
              <a:t>Facts / figures</a:t>
            </a:r>
          </a:p>
          <a:p>
            <a:r>
              <a:t>- Europe-focused commercial freight electrification</a:t>
            </a:r>
          </a:p>
          <a:p>
            <a:r>
              <a:t>- Heavy-duty truck charging hubs are the core strategic asset</a:t>
            </a:r>
          </a:p>
          <a:p/>
          <a:p>
            <a:r>
              <a:t>Sources</a:t>
            </a:r>
          </a:p>
          <a:p>
            <a:r>
              <a:t>- Company research report</a:t>
            </a:r>
          </a:p>
          <a:p>
            <a:r>
              <a:t>- Company website / announcements</a:t>
            </a:r>
          </a:p>
          <a:p>
            <a:r>
              <a:t>- Prologis announcement</a:t>
            </a:r>
          </a:p>
          <a:p/>
          <a:p>
            <a:r>
              <a:t>Slide 6 — Recent News and Key Commercial Milestones</a:t>
            </a:r>
          </a:p>
          <a:p>
            <a:r>
              <a:t>- Prologis partnership: Planned delivery of a dedicated electric heavy-truck charging hub next to the Port of Valencia</a:t>
            </a:r>
          </a:p>
          <a:p>
            <a:r>
              <a:t>- MercaValencia launch: Operations launched at a major electric truck charging hub</a:t>
            </a:r>
          </a:p>
          <a:p>
            <a:r>
              <a:t>- Grupo Torres contract: Reported 7-year contract to use the first heavy electric vehicle charging centre in Spain</a:t>
            </a:r>
          </a:p>
          <a:p>
            <a:r>
              <a:t>- Key customer launch: Leadership posts highlight a customer launch in Valencia</a:t>
            </a:r>
          </a:p>
          <a:p>
            <a:r>
              <a:t>- Corridor program: Smart Freight Centre and PragmaCharge launched an electrification program for the Poland–Germany freight corridor</a:t>
            </a:r>
          </a:p>
          <a:p/>
          <a:p>
            <a:r>
              <a:t>Facts / figures</a:t>
            </a:r>
          </a:p>
          <a:p>
            <a:r>
              <a:t>- 7-year contract with Grupo Torres</a:t>
            </a:r>
          </a:p>
          <a:p>
            <a:r>
              <a:t>- Valencia / MercaValencia is the main visible operating site</a:t>
            </a:r>
          </a:p>
          <a:p>
            <a:r>
              <a:t>- Public launch activity in 2026</a:t>
            </a:r>
          </a:p>
          <a:p/>
          <a:p>
            <a:r>
              <a:t>Sources</a:t>
            </a:r>
          </a:p>
          <a:p>
            <a:r>
              <a:t>- Prologis announcement, June 11, 2026</a:t>
            </a:r>
          </a:p>
          <a:p>
            <a:r>
              <a:t>- Prologis article, September 25, 2026</a:t>
            </a:r>
          </a:p>
          <a:p>
            <a:r>
              <a:t>- LinkedIn posts from company leadership</a:t>
            </a:r>
          </a:p>
          <a:p>
            <a:r>
              <a:t>- Company website</a:t>
            </a:r>
          </a:p>
          <a:p/>
          <a:p>
            <a:r>
              <a:t>Slide 7 — Employee Reviews and Company Culture</a:t>
            </a:r>
          </a:p>
          <a:p>
            <a:r>
              <a:t>- No strong PragmaCharge-specific employee review dataset was found in public sources</a:t>
            </a:r>
          </a:p>
          <a:p>
            <a:r>
              <a:t>- Likely culture inferred from company footprint:</a:t>
            </a:r>
          </a:p>
          <a:p>
            <a:r>
              <a:t>  - founder-led</a:t>
            </a:r>
          </a:p>
          <a:p>
            <a:r>
              <a:t>  - fast-moving</a:t>
            </a:r>
          </a:p>
          <a:p>
            <a:r>
              <a:t>  - mission-driven</a:t>
            </a:r>
          </a:p>
          <a:p>
            <a:r>
              <a:t>  - externally visible</a:t>
            </a:r>
          </a:p>
          <a:p>
            <a:r>
              <a:t>  - entrepreneurial</a:t>
            </a:r>
          </a:p>
          <a:p>
            <a:r>
              <a:t>- Small team likely means broad responsibilities and rapid change</a:t>
            </a:r>
          </a:p>
          <a:p>
            <a:r>
              <a:t>- Employee sentiment should be treated as limited / not statistically reliable</a:t>
            </a:r>
          </a:p>
          <a:p>
            <a:r>
              <a:t>- Any opinion-based conclusions are inference, not verified employee review data</a:t>
            </a:r>
          </a:p>
          <a:p/>
          <a:p>
            <a:r>
              <a:t>Facts / figures</a:t>
            </a:r>
          </a:p>
          <a:p>
            <a:r>
              <a:t>- Review coverage is limited / not sufficient for strong conclusions</a:t>
            </a:r>
          </a:p>
          <a:p/>
          <a:p>
            <a:r>
              <a:t>Sources</a:t>
            </a:r>
          </a:p>
          <a:p>
            <a:r>
              <a:t>- Public review search results</a:t>
            </a:r>
          </a:p>
          <a:p>
            <a:r>
              <a:t>- LinkedIn company footprint</a:t>
            </a:r>
          </a:p>
          <a:p>
            <a:r>
              <a:t>- Company research report</a:t>
            </a:r>
          </a:p>
          <a:p/>
          <a:p>
            <a:r>
              <a:t>Slide 8 — Employee Opinions and Work Environment Signals</a:t>
            </a:r>
          </a:p>
          <a:p>
            <a:r>
              <a:t>- Public footprint suggests a small, highly engaged leadership presence</a:t>
            </a:r>
          </a:p>
          <a:p>
            <a:r>
              <a:t>- Work environment is likely shaped by:</a:t>
            </a:r>
          </a:p>
          <a:p>
            <a:r>
              <a:t>  - ambiguity</a:t>
            </a:r>
          </a:p>
          <a:p>
            <a:r>
              <a:t>  - project deadlines</a:t>
            </a:r>
          </a:p>
          <a:p>
            <a:r>
              <a:t>  - hands-on problem solving</a:t>
            </a:r>
          </a:p>
          <a:p>
            <a:r>
              <a:t>  - cross-functional collaboration</a:t>
            </a:r>
          </a:p>
          <a:p>
            <a:r>
              <a:t>- Likely positive for self-starters and builders</a:t>
            </a:r>
          </a:p>
          <a:p>
            <a:r>
              <a:t>- Likely challenging for people needing structure, process, or large-team support</a:t>
            </a:r>
          </a:p>
          <a:p>
            <a:r>
              <a:t>- These are inferred working conditions, not verified review outcomes</a:t>
            </a:r>
          </a:p>
          <a:p/>
          <a:p>
            <a:r>
              <a:t>Facts / figures</a:t>
            </a:r>
          </a:p>
          <a:p>
            <a:r>
              <a:t>- No verified review score available for PragmaCharge</a:t>
            </a:r>
          </a:p>
          <a:p/>
          <a:p>
            <a:r>
              <a:t>Sources</a:t>
            </a:r>
          </a:p>
          <a:p>
            <a:r>
              <a:t>- Company research report</a:t>
            </a:r>
          </a:p>
          <a:p>
            <a:r>
              <a:t>- LinkedIn leadership activity</a:t>
            </a:r>
          </a:p>
          <a:p>
            <a:r>
              <a:t>- Public company footprint</a:t>
            </a:r>
          </a:p>
          <a:p/>
          <a:p>
            <a:r>
              <a:t>Slide 9 — Technology and IT Landscape</a:t>
            </a:r>
          </a:p>
          <a:p>
            <a:r>
              <a:t>- No public engineering stack disclosure was found</a:t>
            </a:r>
          </a:p>
          <a:p>
            <a:r>
              <a:t>- Business model implies technology needs in:</a:t>
            </a:r>
          </a:p>
          <a:p>
            <a:r>
              <a:t>  - cloud infrastructure</a:t>
            </a:r>
          </a:p>
          <a:p>
            <a:r>
              <a:t>  - IoT / telematics integrations</a:t>
            </a:r>
          </a:p>
          <a:p>
            <a:r>
              <a:t>  - charger operations software</a:t>
            </a:r>
          </a:p>
          <a:p>
            <a:r>
              <a:t>  - fleet scheduling / dispatch</a:t>
            </a:r>
          </a:p>
          <a:p>
            <a:r>
              <a:t>  - energy and load management</a:t>
            </a:r>
          </a:p>
          <a:p>
            <a:r>
              <a:t>  - analytics and reporting</a:t>
            </a:r>
          </a:p>
          <a:p>
            <a:r>
              <a:t>  - customer portals and B2B workflows</a:t>
            </a:r>
          </a:p>
          <a:p>
            <a:r>
              <a:t>- Likely architecture needs:</a:t>
            </a:r>
          </a:p>
          <a:p>
            <a:r>
              <a:t>  - API integrations</a:t>
            </a:r>
          </a:p>
          <a:p>
            <a:r>
              <a:t>  - event-driven telemetry ingestion</a:t>
            </a:r>
          </a:p>
          <a:p>
            <a:r>
              <a:t>  - secure multi-tenant systems</a:t>
            </a:r>
          </a:p>
          <a:p>
            <a:r>
              <a:t>  - operational dashboards</a:t>
            </a:r>
          </a:p>
          <a:p>
            <a:r>
              <a:t>  - cybersecurity and data governance</a:t>
            </a:r>
          </a:p>
          <a:p>
            <a:r>
              <a:t>- Early-stage companies typically use pragmatic, cloud-first tools</a:t>
            </a:r>
          </a:p>
          <a:p/>
          <a:p>
            <a:r>
              <a:t>Facts / figures</a:t>
            </a:r>
          </a:p>
          <a:p>
            <a:r>
              <a:t>- No verified public stack list found</a:t>
            </a:r>
          </a:p>
          <a:p/>
          <a:p>
            <a:r>
              <a:t>Sources</a:t>
            </a:r>
          </a:p>
          <a:p>
            <a:r>
              <a:t>- Company research report</a:t>
            </a:r>
          </a:p>
          <a:p>
            <a:r>
              <a:t>- Inference from business model and operating requirements</a:t>
            </a:r>
          </a:p>
          <a:p/>
          <a:p>
            <a:r>
              <a:t>Slide 10 — Cloud / Infrastructure Strategy</a:t>
            </a:r>
          </a:p>
          <a:p>
            <a:r>
              <a:t>- PragmaCharge’s infrastructure strategy appears to combine:</a:t>
            </a:r>
          </a:p>
          <a:p>
            <a:r>
              <a:t>  - physical charging sites</a:t>
            </a:r>
          </a:p>
          <a:p>
            <a:r>
              <a:t>  - operational software</a:t>
            </a:r>
          </a:p>
          <a:p>
            <a:r>
              <a:t>  - fleet service workflows</a:t>
            </a:r>
          </a:p>
          <a:p>
            <a:r>
              <a:t>- Likely needs reliable cloud support for:</a:t>
            </a:r>
          </a:p>
          <a:p>
            <a:r>
              <a:t>  - remote monitoring</a:t>
            </a:r>
          </a:p>
          <a:p>
            <a:r>
              <a:t>  - uptime / availability</a:t>
            </a:r>
          </a:p>
          <a:p>
            <a:r>
              <a:t>  - telemetry and site operations</a:t>
            </a:r>
          </a:p>
          <a:p>
            <a:r>
              <a:t>  - customer access and usage tracking</a:t>
            </a:r>
          </a:p>
          <a:p>
            <a:r>
              <a:t>- Infrastructure model is likely hybrid physical + digital</a:t>
            </a:r>
          </a:p>
          <a:p>
            <a:r>
              <a:t>- High uptime and data integrity are important because charging operations are mission-critical</a:t>
            </a:r>
          </a:p>
          <a:p>
            <a:r>
              <a:t>- No verified public cloud provider or architecture details were found</a:t>
            </a:r>
          </a:p>
          <a:p/>
          <a:p>
            <a:r>
              <a:t>Facts / figures</a:t>
            </a:r>
          </a:p>
          <a:p>
            <a:r>
              <a:t>- No public cloud stack disclosure found</a:t>
            </a:r>
          </a:p>
          <a:p/>
          <a:p>
            <a:r>
              <a:t>Sources</a:t>
            </a:r>
          </a:p>
          <a:p>
            <a:r>
              <a:t>- Company research report</a:t>
            </a:r>
          </a:p>
          <a:p>
            <a:r>
              <a:t>- Public commercial launch activity</a:t>
            </a:r>
          </a:p>
          <a:p>
            <a:r>
              <a:t>- Inference based on operating model</a:t>
            </a:r>
          </a:p>
          <a:p/>
          <a:p>
            <a:r>
              <a:t>Slide 11 — AI / Digital Transformation</a:t>
            </a:r>
          </a:p>
          <a:p>
            <a:r>
              <a:t>- No verified public announcement of an AI strategy was found</a:t>
            </a:r>
          </a:p>
          <a:p>
            <a:r>
              <a:t>- AI use cases are plausible but not confirmed, including:</a:t>
            </a:r>
          </a:p>
          <a:p>
            <a:r>
              <a:t>  - demand forecasting</a:t>
            </a:r>
          </a:p>
          <a:p>
            <a:r>
              <a:t>  - charger utilization optimization</a:t>
            </a:r>
          </a:p>
          <a:p>
            <a:r>
              <a:t>  - predictive maintenance</a:t>
            </a:r>
          </a:p>
          <a:p>
            <a:r>
              <a:t>  - route / fleet planning support</a:t>
            </a:r>
          </a:p>
          <a:p>
            <a:r>
              <a:t>  - operational anomaly detection</a:t>
            </a:r>
          </a:p>
          <a:p>
            <a:r>
              <a:t>- Digital transformation appears to be centered on fleet electrification operations, not AI branding</a:t>
            </a:r>
          </a:p>
          <a:p>
            <a:r>
              <a:t>- Any AI narrative should be treated as speculative unless confirmed by the company</a:t>
            </a:r>
          </a:p>
          <a:p/>
          <a:p>
            <a:r>
              <a:t>Facts / figures</a:t>
            </a:r>
          </a:p>
          <a:p>
            <a:r>
              <a:t>- No public AI initiative disclosed in the research</a:t>
            </a:r>
          </a:p>
          <a:p/>
          <a:p>
            <a:r>
              <a:t>Sources</a:t>
            </a:r>
          </a:p>
          <a:p>
            <a:r>
              <a:t>- Company research report</a:t>
            </a:r>
          </a:p>
          <a:p>
            <a:r>
              <a:t>- Public website / announcements reviewed in research</a:t>
            </a:r>
          </a:p>
          <a:p/>
          <a:p>
            <a:r>
              <a:t>Slide 12 — Future Technology Direction</a:t>
            </a:r>
          </a:p>
          <a:p>
            <a:r>
              <a:t>- Likely future direction includes:</a:t>
            </a:r>
          </a:p>
          <a:p>
            <a:r>
              <a:t>  - expanding charging hubs</a:t>
            </a:r>
          </a:p>
          <a:p>
            <a:r>
              <a:t>  - corridor-based rollout</a:t>
            </a:r>
          </a:p>
          <a:p>
            <a:r>
              <a:t>  - deeper fleet management capabilities</a:t>
            </a:r>
          </a:p>
          <a:p>
            <a:r>
              <a:t>  - digital services around charging and operations</a:t>
            </a:r>
          </a:p>
          <a:p>
            <a:r>
              <a:t>- Could evolve into a heavy-duty electrification platform</a:t>
            </a:r>
          </a:p>
          <a:p>
            <a:r>
              <a:t>- Possible future layers:</a:t>
            </a:r>
          </a:p>
          <a:p>
            <a:r>
              <a:t>  - software / analytics</a:t>
            </a:r>
          </a:p>
          <a:p>
            <a:r>
              <a:t>  - fleet optimization</a:t>
            </a:r>
          </a:p>
          <a:p>
            <a:r>
              <a:t>  - partner integrations</a:t>
            </a:r>
          </a:p>
          <a:p>
            <a:r>
              <a:t>  - asset-backed scaling models</a:t>
            </a:r>
          </a:p>
          <a:p>
            <a:r>
              <a:t>- Strategy appears to favor repeatable logistics nodes over one-off deployments</a:t>
            </a:r>
          </a:p>
          <a:p>
            <a:r>
              <a:t>- No formal public roadmap was disclosed</a:t>
            </a:r>
          </a:p>
          <a:p/>
          <a:p>
            <a:r>
              <a:t>Facts / figures</a:t>
            </a:r>
          </a:p>
          <a:p>
            <a:r>
              <a:t>- Expansion beyond Valencia is implied by corridor strategy and multi-country activity</a:t>
            </a:r>
          </a:p>
          <a:p/>
          <a:p>
            <a:r>
              <a:t>Sources</a:t>
            </a:r>
          </a:p>
          <a:p>
            <a:r>
              <a:t>- Company research report</a:t>
            </a:r>
          </a:p>
          <a:p>
            <a:r>
              <a:t>- Smart Freight Centre / PragmaCharge corridor announcement</a:t>
            </a:r>
          </a:p>
          <a:p>
            <a:r>
              <a:t>- Prologis partnership coverage</a:t>
            </a:r>
          </a:p>
          <a:p/>
          <a:p>
            <a:r>
              <a:t>Slide 13 — Opportunities for Cloud / DevOps / SRE Professionals</a:t>
            </a:r>
          </a:p>
          <a:p>
            <a:r>
              <a:t>- Opportunity to build systems from the ground up</a:t>
            </a:r>
          </a:p>
          <a:p>
            <a:r>
              <a:t>- Likely exposure to:</a:t>
            </a:r>
          </a:p>
          <a:p>
            <a:r>
              <a:t>  - cloud architecture</a:t>
            </a:r>
          </a:p>
          <a:p>
            <a:r>
              <a:t>  - IoT / industrial systems</a:t>
            </a:r>
          </a:p>
          <a:p>
            <a:r>
              <a:t>  - operational reliability</a:t>
            </a:r>
          </a:p>
          <a:p>
            <a:r>
              <a:t>  - integrations with logistics and energy systems</a:t>
            </a:r>
          </a:p>
          <a:p>
            <a:r>
              <a:t>  - data pipelines and monitoring</a:t>
            </a:r>
          </a:p>
          <a:p>
            <a:r>
              <a:t>- Strong fit for engineers who enjoy broad ownership and ambiguity</a:t>
            </a:r>
          </a:p>
          <a:p>
            <a:r>
              <a:t>- Potential to influence core operational reliability in a mission-critical environment</a:t>
            </a:r>
          </a:p>
          <a:p>
            <a:r>
              <a:t>- Small team size means high visibility and direct impact</a:t>
            </a:r>
          </a:p>
          <a:p/>
          <a:p>
            <a:r>
              <a:t>Facts / figures</a:t>
            </a:r>
          </a:p>
          <a:p>
            <a:r>
              <a:t>- Team size is small: 2–10 on LinkedIn, 11 on PitchBook</a:t>
            </a:r>
          </a:p>
          <a:p/>
          <a:p>
            <a:r>
              <a:t>Sources</a:t>
            </a:r>
          </a:p>
          <a:p>
            <a:r>
              <a:t>- LinkedIn</a:t>
            </a:r>
          </a:p>
          <a:p>
            <a:r>
              <a:t>- PitchBook</a:t>
            </a:r>
          </a:p>
          <a:p>
            <a:r>
              <a:t>- Company research report</a:t>
            </a:r>
          </a:p>
          <a:p/>
          <a:p>
            <a:r>
              <a:t>Slide 14 — Career Growth Potential for Technical Talent</a:t>
            </a:r>
          </a:p>
          <a:p>
            <a:r>
              <a:t>- Broad scope could accelerate learning across cloud, operations, and digital infrastructure</a:t>
            </a:r>
          </a:p>
          <a:p>
            <a:r>
              <a:t>- Early hires may gain experience in:</a:t>
            </a:r>
          </a:p>
          <a:p>
            <a:r>
              <a:t>  - platform design</a:t>
            </a:r>
          </a:p>
          <a:p>
            <a:r>
              <a:t>  - security</a:t>
            </a:r>
          </a:p>
          <a:p>
            <a:r>
              <a:t>  - observability</a:t>
            </a:r>
          </a:p>
          <a:p>
            <a:r>
              <a:t>  - data systems</a:t>
            </a:r>
          </a:p>
          <a:p>
            <a:r>
              <a:t>  - operational tooling</a:t>
            </a:r>
          </a:p>
          <a:p>
            <a:r>
              <a:t>- Potential path to future leadership roles if the company scales</a:t>
            </a:r>
          </a:p>
          <a:p>
            <a:r>
              <a:t>- Career growth may be fast, but it may be unstructured</a:t>
            </a:r>
          </a:p>
          <a:p>
            <a:r>
              <a:t>- Limited mentorship and process maturity should be expected</a:t>
            </a:r>
          </a:p>
          <a:p/>
          <a:p>
            <a:r>
              <a:t>Facts / figures</a:t>
            </a:r>
          </a:p>
          <a:p>
            <a:r>
              <a:t>- Small company size can mean broad responsibility</a:t>
            </a:r>
          </a:p>
          <a:p/>
          <a:p>
            <a:r>
              <a:t>Sources</a:t>
            </a:r>
          </a:p>
          <a:p>
            <a:r>
              <a:t>- Company research report</a:t>
            </a:r>
          </a:p>
          <a:p>
            <a:r>
              <a:t>- Current staffing signals from LinkedIn / PitchBook</a:t>
            </a:r>
          </a:p>
          <a:p/>
          <a:p>
            <a:r>
              <a:t>Slide 15 — Job Stability and Career Risk</a:t>
            </a:r>
          </a:p>
          <a:p>
            <a:r>
              <a:t>- Job stability is likely low to medium versus a mature enterprise</a:t>
            </a:r>
          </a:p>
          <a:p>
            <a:r>
              <a:t>- Main risks:</a:t>
            </a:r>
          </a:p>
          <a:p>
            <a:r>
              <a:t>  - capital intensity</a:t>
            </a:r>
          </a:p>
          <a:p>
            <a:r>
              <a:t>  - dependence on project milestones</a:t>
            </a:r>
          </a:p>
          <a:p>
            <a:r>
              <a:t>  - small team concentration</a:t>
            </a:r>
          </a:p>
          <a:p>
            <a:r>
              <a:t>  - ongoing fundraising needs</a:t>
            </a:r>
          </a:p>
          <a:p>
            <a:r>
              <a:t>- Best suited for professionals comfortable with startup uncertainty</a:t>
            </a:r>
          </a:p>
          <a:p>
            <a:r>
              <a:t>- Potential upside is meaningful if the business scales successfully</a:t>
            </a:r>
          </a:p>
          <a:p>
            <a:r>
              <a:t>- Role suitability depends heavily on risk tolerance</a:t>
            </a:r>
          </a:p>
          <a:p/>
          <a:p>
            <a:r>
              <a:t>Facts / figures</a:t>
            </a:r>
          </a:p>
          <a:p>
            <a:r>
              <a:t>- Disclosed funding is modest relative to infrastructure ambitions: $4.31M raised (PitchBook)</a:t>
            </a:r>
          </a:p>
          <a:p/>
          <a:p>
            <a:r>
              <a:t>Sources</a:t>
            </a:r>
          </a:p>
          <a:p>
            <a:r>
              <a:t>- PitchBook</a:t>
            </a:r>
          </a:p>
          <a:p>
            <a:r>
              <a:t>- Company research report</a:t>
            </a:r>
          </a:p>
          <a:p/>
          <a:p>
            <a:r>
              <a:t>Slide 16 — Company Culture and Work Environment</a:t>
            </a:r>
          </a:p>
          <a:p>
            <a:r>
              <a:t>- Likely culture: founder-led, mission-driven, fast-paced, entrepreneurial</a:t>
            </a:r>
          </a:p>
          <a:p>
            <a:r>
              <a:t>- Likely positives:</a:t>
            </a:r>
          </a:p>
          <a:p>
            <a:r>
              <a:t>  - high ownership</a:t>
            </a:r>
          </a:p>
          <a:p>
            <a:r>
              <a:t>  - direct access to leadership</a:t>
            </a:r>
          </a:p>
          <a:p>
            <a:r>
              <a:t>  - meaningful climate impact</a:t>
            </a:r>
          </a:p>
          <a:p>
            <a:r>
              <a:t>  - cross-functional exposure</a:t>
            </a:r>
          </a:p>
          <a:p>
            <a:r>
              <a:t>- Likely negatives:</a:t>
            </a:r>
          </a:p>
          <a:p>
            <a:r>
              <a:t>  - ambiguity</a:t>
            </a:r>
          </a:p>
          <a:p>
            <a:r>
              <a:t>  - long hours during launches</a:t>
            </a:r>
          </a:p>
          <a:p>
            <a:r>
              <a:t>  - limited formal structure</a:t>
            </a:r>
          </a:p>
          <a:p>
            <a:r>
              <a:t>  - broad role boundaries</a:t>
            </a:r>
          </a:p>
          <a:p>
            <a:r>
              <a:t>- Best fit for self-starters who thrive in startup conditions</a:t>
            </a:r>
          </a:p>
          <a:p/>
          <a:p>
            <a:r>
              <a:t>Facts / figures</a:t>
            </a:r>
          </a:p>
          <a:p>
            <a:r>
              <a:t>- No verified culture survey data found</a:t>
            </a:r>
          </a:p>
          <a:p/>
          <a:p>
            <a:r>
              <a:t>Sources</a:t>
            </a:r>
          </a:p>
          <a:p>
            <a:r>
              <a:t>- Company research report</a:t>
            </a:r>
          </a:p>
          <a:p>
            <a:r>
              <a:t>- LinkedIn leadership presence</a:t>
            </a:r>
          </a:p>
          <a:p>
            <a:r>
              <a:t>- Limited public review data</a:t>
            </a:r>
          </a:p>
          <a:p/>
          <a:p>
            <a:r>
              <a:t>Slide 17 — Financial Potential and Investment Attractiveness</a:t>
            </a:r>
          </a:p>
          <a:p>
            <a:r>
              <a:t>- PragmaCharge is a climate infrastructure startup with a clear market theme</a:t>
            </a:r>
          </a:p>
          <a:p>
            <a:r>
              <a:t>- Positive signals:</a:t>
            </a:r>
          </a:p>
          <a:p>
            <a:r>
              <a:t>  - real-world deployments</a:t>
            </a:r>
          </a:p>
          <a:p>
            <a:r>
              <a:t>  - customer traction</a:t>
            </a:r>
          </a:p>
          <a:p>
            <a:r>
              <a:t>  - strategic partnerships</a:t>
            </a:r>
          </a:p>
          <a:p>
            <a:r>
              <a:t>  - Europe-focused freight decarbonization tailwind</a:t>
            </a:r>
          </a:p>
          <a:p>
            <a:r>
              <a:t>- Concerns:</a:t>
            </a:r>
          </a:p>
          <a:p>
            <a:r>
              <a:t>  - infrastructure requires more capital than software</a:t>
            </a:r>
          </a:p>
          <a:p>
            <a:r>
              <a:t>  - public funding appears limited</a:t>
            </a:r>
          </a:p>
          <a:p>
            <a:r>
              <a:t>  - future dilution risk is likely</a:t>
            </a:r>
          </a:p>
          <a:p>
            <a:r>
              <a:t>  - execution risk remains high</a:t>
            </a:r>
          </a:p>
          <a:p>
            <a:r>
              <a:t>- Attractive mainly to investors with long time horizons and climate infrastructure expertise</a:t>
            </a:r>
          </a:p>
          <a:p/>
          <a:p>
            <a:r>
              <a:t>Facts / figures</a:t>
            </a:r>
          </a:p>
          <a:p>
            <a:r>
              <a:t>- $4.31M raised according to PitchBook</a:t>
            </a:r>
          </a:p>
          <a:p>
            <a:r>
              <a:t>- Revenue stage mentioned by founder commentary</a:t>
            </a:r>
          </a:p>
          <a:p/>
          <a:p>
            <a:r>
              <a:t>Sources</a:t>
            </a:r>
          </a:p>
          <a:p>
            <a:r>
              <a:t>- PitchBook</a:t>
            </a:r>
          </a:p>
          <a:p>
            <a:r>
              <a:t>- Founder LinkedIn commentary</a:t>
            </a:r>
          </a:p>
          <a:p>
            <a:r>
              <a:t>- Company research report</a:t>
            </a:r>
          </a:p>
          <a:p/>
          <a:p>
            <a:r>
              <a:t>Slide 18 — Funding and Investors</a:t>
            </a:r>
          </a:p>
          <a:p>
            <a:r>
              <a:t>- PitchBook reports $4.31M raised</a:t>
            </a:r>
          </a:p>
          <a:p>
            <a:r>
              <a:t>- PitchBook lists 11 total employees</a:t>
            </a:r>
          </a:p>
          <a:p>
            <a:r>
              <a:t>- Known investors listed:</a:t>
            </a:r>
          </a:p>
          <a:p>
            <a:r>
              <a:t>  - Circular Valley</a:t>
            </a:r>
          </a:p>
          <a:p>
            <a:r>
              <a:t>  - Make Visions Capital</a:t>
            </a:r>
          </a:p>
          <a:p>
            <a:r>
              <a:t>  - Moulsford Management</a:t>
            </a:r>
          </a:p>
          <a:p>
            <a:r>
              <a:t>- Founder commentary references multi-million-pound seed funding</a:t>
            </a:r>
          </a:p>
          <a:p>
            <a:r>
              <a:t>- Funding appears sufficient for early deployment, but likely not for large-scale rollout without more capital</a:t>
            </a:r>
          </a:p>
          <a:p/>
          <a:p>
            <a:r>
              <a:t>Facts / figures</a:t>
            </a:r>
          </a:p>
          <a:p>
            <a:r>
              <a:t>- $4.31M raised</a:t>
            </a:r>
          </a:p>
          <a:p>
            <a:r>
              <a:t>- 11 employees</a:t>
            </a:r>
          </a:p>
          <a:p>
            <a:r>
              <a:t>- Three named investors from PitchBook</a:t>
            </a:r>
          </a:p>
          <a:p/>
          <a:p>
            <a:r>
              <a:t>Sources</a:t>
            </a:r>
          </a:p>
          <a:p>
            <a:r>
              <a:t>- PitchBook</a:t>
            </a:r>
          </a:p>
          <a:p>
            <a:r>
              <a:t>- Founder LinkedIn commentary</a:t>
            </a:r>
          </a:p>
          <a:p/>
          <a:p>
            <a:r>
              <a:t>Slide 19 — Competitors and Market Position</a:t>
            </a:r>
          </a:p>
          <a:p>
            <a:r>
              <a:t>- PitchBook identifies WattEV as a competitor</a:t>
            </a:r>
          </a:p>
          <a:p>
            <a:r>
              <a:t>- Likely broader competitors include:</a:t>
            </a:r>
          </a:p>
          <a:p>
            <a:r>
              <a:t>  - heavy-duty charging startups</a:t>
            </a:r>
          </a:p>
          <a:p>
            <a:r>
              <a:t>  - energy companies entering EV infrastructure</a:t>
            </a:r>
          </a:p>
          <a:p>
            <a:r>
              <a:t>  - logistics real estate players</a:t>
            </a:r>
          </a:p>
          <a:p>
            <a:r>
              <a:t>  - OEM and fleet ecosystem providers</a:t>
            </a:r>
          </a:p>
          <a:p>
            <a:r>
              <a:t>- PragmaCharge is still small and early-stage</a:t>
            </a:r>
          </a:p>
          <a:p>
            <a:r>
              <a:t>- Differentiation comes from:</a:t>
            </a:r>
          </a:p>
          <a:p>
            <a:r>
              <a:t>  - truck-specific infrastructure</a:t>
            </a:r>
          </a:p>
          <a:p>
            <a:r>
              <a:t>  - service wrapper</a:t>
            </a:r>
          </a:p>
          <a:p>
            <a:r>
              <a:t>  - corridor strategy</a:t>
            </a:r>
          </a:p>
          <a:p>
            <a:r>
              <a:t>  - strategic logistics partnerships</a:t>
            </a:r>
          </a:p>
          <a:p>
            <a:r>
              <a:t>- Competitive weakness is primarily scale and capital availability</a:t>
            </a:r>
          </a:p>
          <a:p/>
          <a:p>
            <a:r>
              <a:t>Facts / figures</a:t>
            </a:r>
          </a:p>
          <a:p>
            <a:r>
              <a:t>- Named competitor: WattEV</a:t>
            </a:r>
          </a:p>
          <a:p/>
          <a:p>
            <a:r>
              <a:t>Sources</a:t>
            </a:r>
          </a:p>
          <a:p>
            <a:r>
              <a:t>- PitchBook</a:t>
            </a:r>
          </a:p>
          <a:p>
            <a:r>
              <a:t>- Company research report</a:t>
            </a:r>
          </a:p>
          <a:p/>
          <a:p>
            <a:r>
              <a:t>Slide 20 — Key Findings and Sources</a:t>
            </a:r>
          </a:p>
          <a:p>
            <a:r>
              <a:t>- PragmaCharge is a real operating startup, not just an idea</a:t>
            </a:r>
          </a:p>
          <a:p>
            <a:r>
              <a:t>- Strongest evidence of traction:</a:t>
            </a:r>
          </a:p>
          <a:p>
            <a:r>
              <a:t>  - Valencia site activity</a:t>
            </a:r>
          </a:p>
          <a:p>
            <a:r>
              <a:t>  - Prologis partnership</a:t>
            </a:r>
          </a:p>
          <a:p>
            <a:r>
              <a:t>  - Grupo Torres 7-year contract</a:t>
            </a:r>
          </a:p>
          <a:p>
            <a:r>
              <a:t>  - corridor electrification program</a:t>
            </a:r>
          </a:p>
          <a:p>
            <a:r>
              <a:t>- Company remains small, early-stage, and capital constrained</a:t>
            </a:r>
          </a:p>
          <a:p>
            <a:r>
              <a:t>- Public employee review data is limited, so culture conclusions are mostly inference</a:t>
            </a:r>
          </a:p>
          <a:p>
            <a:r>
              <a:t>- Best fit for Cloud / DevOps / SRE professionals is a high-ownership startup environment with meaningful uncertainty</a:t>
            </a:r>
          </a:p>
          <a:p/>
          <a:p>
            <a:r>
              <a:t>Facts / figures</a:t>
            </a:r>
          </a:p>
          <a:p>
            <a:r>
              <a:t>- Founded in 2023</a:t>
            </a:r>
          </a:p>
          <a:p>
            <a:r>
              <a:t>- London headquarters</a:t>
            </a:r>
          </a:p>
          <a:p>
            <a:r>
              <a:t>- 2–10 employees on LinkedIn / 11 on PitchBook</a:t>
            </a:r>
          </a:p>
          <a:p>
            <a:r>
              <a:t>- $4.31M raised</a:t>
            </a:r>
          </a:p>
          <a:p>
            <a:r>
              <a:t>- Named competitor: WattEV</a:t>
            </a:r>
          </a:p>
          <a:p/>
          <a:p>
            <a:r>
              <a:t>Sources</a:t>
            </a:r>
          </a:p>
          <a:p>
            <a:r>
              <a:t>- PitchBook</a:t>
            </a:r>
          </a:p>
          <a:p>
            <a:r>
              <a:t>- LinkedIn</a:t>
            </a:r>
          </a:p>
          <a:p>
            <a:r>
              <a:t>- Prologis announcements</a:t>
            </a:r>
          </a:p>
          <a:p>
            <a:r>
              <a:t>- Company website</a:t>
            </a:r>
          </a:p>
          <a:p>
            <a:r>
              <a:t>- Founder LinkedIn commentary</a:t>
            </a:r>
          </a:p>
          <a:p>
            <a:r>
              <a:t>- Smart Freight Centre / PragmaCharge announcement</a:t>
            </a:r>
          </a:p>
          <a:p/>
          <a:p>
            <a:r>
              <a:t>Slide 21 — Source List</a:t>
            </a:r>
          </a:p>
          <a:p>
            <a:r>
              <a:t>- PitchBook</a:t>
            </a:r>
          </a:p>
          <a:p>
            <a:r>
              <a:t>  - Company profile, funding, employee count, investor list, competitor reference</a:t>
            </a:r>
          </a:p>
          <a:p>
            <a:r>
              <a:t>- LinkedIn</a:t>
            </a:r>
          </a:p>
          <a:p>
            <a:r>
              <a:t>  - Company size estimate</a:t>
            </a:r>
          </a:p>
          <a:p>
            <a:r>
              <a:t>  - Founder and leadership commentary</a:t>
            </a:r>
          </a:p>
          <a:p>
            <a:r>
              <a:t>  - Public posts on launches and contracts</a:t>
            </a:r>
          </a:p>
          <a:p>
            <a:r>
              <a:t>- Prologis</a:t>
            </a:r>
          </a:p>
          <a:p>
            <a:r>
              <a:t>  - June 11, 2026 announcement on Valencia heavy-truck charging hub</a:t>
            </a:r>
          </a:p>
          <a:p>
            <a:r>
              <a:t>  - September 25, 2026 article on MercaValencia operations launch</a:t>
            </a:r>
          </a:p>
          <a:p>
            <a:r>
              <a:t>- PragmaCharge website</a:t>
            </a:r>
          </a:p>
          <a:p>
            <a:r>
              <a:t>  - Corridor electrification / program announcement</a:t>
            </a:r>
          </a:p>
          <a:p>
            <a:r>
              <a:t>- Smart Freight Centre</a:t>
            </a:r>
          </a:p>
          <a:p>
            <a:r>
              <a:t>  - Freight corridor electrification program reference</a:t>
            </a:r>
          </a:p>
          <a:p>
            <a:r>
              <a:t>- Company research report</a:t>
            </a:r>
          </a:p>
          <a:p>
            <a:r>
              <a:t>  - Consolidated analysis and inference</a:t>
            </a:r>
          </a:p>
          <a:p/>
          <a:p>
            <a:r>
              <a:t>Notes</a:t>
            </a:r>
          </a:p>
          <a:p>
            <a:r>
              <a:t>- Where no direct public disclosure exists, findings are marked as inference</a:t>
            </a:r>
          </a:p>
          <a:p>
            <a:r>
              <a:t>- Employee opinion data is limited and should not be over-weighted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